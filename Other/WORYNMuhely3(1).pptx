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65" r:id="rId3"/>
    <p:sldId id="269" r:id="rId4"/>
    <p:sldId id="268" r:id="rId5"/>
    <p:sldId id="270" r:id="rId6"/>
    <p:sldId id="267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671"/>
    <a:srgbClr val="4D1B07"/>
    <a:srgbClr val="000000"/>
    <a:srgbClr val="F0F8FD"/>
    <a:srgbClr val="FFF3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C8CA448-8BDF-4C40-87BD-3BBD18415332}" v="55" dt="2026-01-15T20:36:17.192"/>
    <p1510:client id="{F421EDB5-A64C-4339-AA3C-5E8E6DD839BB}" v="23" dt="2026-01-17T06:44:48.9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17CD5-5D9F-83A4-7BAF-FDEB974D81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40934F-2558-FDD1-0999-FA3707C59B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A3B2C1-057C-87B4-BEA8-A5D9BFD6A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7B7AA-68A5-4367-9248-FD821E8A2C27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D64B5A-C3D6-99FE-4971-B097C3A74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FBA814-5DEA-29DC-6043-8422723F7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3EF1C-974E-421B-B319-2E6F6A0939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0529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33973-6D5C-00AE-4578-01120D361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4E3F25-FC77-CC79-BFB8-0CFFB31AF5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26B4DA-B843-B31C-01F3-262B3A81A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7B7AA-68A5-4367-9248-FD821E8A2C27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C384B9-3054-577B-9839-E2216DBE6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0A2B5D-06C0-0F59-C2A7-1BBA86DC3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3EF1C-974E-421B-B319-2E6F6A0939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8870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03C49-780A-1C60-B95A-F1820A268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598F74-174A-C0EC-3574-6B1EF4AACC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A1F09E-58DA-35E2-4985-30F64164B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7B7AA-68A5-4367-9248-FD821E8A2C27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02875-96E7-0121-EAE2-CD7E862AC5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1643AD-558F-D334-1261-207ECF094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3EF1C-974E-421B-B319-2E6F6A0939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4535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5DDA1-975B-50DD-8327-37E9B7BB6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5735C8-BB9F-7C11-3865-9F4EC5591D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7F85F9-2A07-6756-987F-B747BBF9C1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D8D078-AC76-BD63-FB0B-8F4E74E205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7B7AA-68A5-4367-9248-FD821E8A2C27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9DA209-9BE8-C5FA-C137-F7A78F3BD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135417-8501-CDB7-A445-DAF9863E9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3EF1C-974E-421B-B319-2E6F6A0939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4016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04900-56AF-D90C-E261-B23B241C3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0B240F-DBF0-ECDD-7E2C-2CF911AF5B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41A1BD-1ABC-0A09-C1AC-AE171000F4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2BD621-C832-B91B-C7CC-9500DE1CCC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2E24B5-7FFC-8925-3094-28A388283C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6747621-0AFC-532E-08A0-C7CA91EA1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7B7AA-68A5-4367-9248-FD821E8A2C27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A7C8E6-85FA-7328-F574-0FE263F7E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4CEA9B-24D3-F16A-F254-02C6ACE19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3EF1C-974E-421B-B319-2E6F6A0939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0842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3B267-3EDF-7775-C972-9B85F848A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0D7C50-D2ED-9C8B-3AC6-360785465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7B7AA-68A5-4367-9248-FD821E8A2C27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ACC1AD-967F-1FEE-9749-65145D5E9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74E595-6689-0D11-8BEC-A16AD3ABD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3EF1C-974E-421B-B319-2E6F6A0939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9335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9B49B4-57F8-050F-BEA2-6399F2269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7B7AA-68A5-4367-9248-FD821E8A2C27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65EB5E-D222-1696-FE55-126519C54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137941-9652-BED0-FF8F-8B0CF97B3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3EF1C-974E-421B-B319-2E6F6A0939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01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C9039-BC39-3541-8E27-20DE8A92B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2AE0A2-FF33-2240-38BB-925AB8B863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708A12-37A0-94BD-2343-214D4505D5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3CA14C-1A02-4A46-A916-61DE7E2BA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7B7AA-68A5-4367-9248-FD821E8A2C27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8370D7-55AD-ABB0-9891-B26D16579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E4F8E6-1499-AC0A-CD73-15DED771F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3EF1C-974E-421B-B319-2E6F6A0939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5172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90BB9D-EEB2-B14E-8686-D4477081CD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CF0236-A7BA-2909-7FC0-EDA9CA2ACF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029125-D1D2-FBB2-6444-08048946EA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8B37AB-353A-DEE1-FE65-1B6FC66D5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7B7AA-68A5-4367-9248-FD821E8A2C27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A5A0DD-A569-6072-E3B0-558F8AA76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CA6454-35FC-A5F6-7B90-ABBEFF96E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3EF1C-974E-421B-B319-2E6F6A0939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5023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29E26-F332-99B1-105C-FC98ACE84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5CB791-E5C5-5678-BAC2-0B3DF82878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4CDAE1-53B8-C4E5-9A24-12D48014B1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7B7AA-68A5-4367-9248-FD821E8A2C27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2123EE-7CB1-824D-38BA-40B0D19A7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8AD3E4-0A1B-BAF5-D0FF-E6F0242D8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3EF1C-974E-421B-B319-2E6F6A0939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7277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65826C-C64C-2B78-41ED-15BE45368C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8C2047-B769-4D83-DBF7-C77CBF6090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E4CE0E-7FE1-4CB0-F383-D424EAEEA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7B7AA-68A5-4367-9248-FD821E8A2C27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F24CA4-2C04-59AE-3272-1BBF37E0A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C54A16-4062-2389-436F-543B2AA10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3EF1C-974E-421B-B319-2E6F6A0939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8509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E2E6D1-3BDB-23DD-9735-FFF2466B51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63075E-C94B-6284-EEED-47AEEC3E6B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EDD619-05C2-4444-3461-80B33CD5AC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7B7AA-68A5-4367-9248-FD821E8A2C27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E394A3-26F1-ED56-F40D-07C6503BE5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FC5FE4-06A3-F770-558A-57FF09DEFB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E3EF1C-974E-421B-B319-2E6F6A0939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5743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EB8CB9-A04E-8CF0-F0A7-ADC72F49D8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Kép 2" descr="A képen Szimmetria, tér, képernyőkép, minta látható&#10;&#10;Lehet, hogy az AI által létrehozott tartalom helytelen.">
            <a:extLst>
              <a:ext uri="{FF2B5EF4-FFF2-40B4-BE49-F238E27FC236}">
                <a16:creationId xmlns:a16="http://schemas.microsoft.com/office/drawing/2014/main" id="{DD334B6A-5860-70E4-4E12-4519C4208E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2486" y="5919129"/>
            <a:ext cx="4367027" cy="709101"/>
          </a:xfrm>
          <a:prstGeom prst="rect">
            <a:avLst/>
          </a:prstGeom>
        </p:spPr>
      </p:pic>
      <p:sp>
        <p:nvSpPr>
          <p:cNvPr id="10" name="Szövegdoboz 4">
            <a:extLst>
              <a:ext uri="{FF2B5EF4-FFF2-40B4-BE49-F238E27FC236}">
                <a16:creationId xmlns:a16="http://schemas.microsoft.com/office/drawing/2014/main" id="{00D9E922-33AD-C931-33DD-CB7CC4458474}"/>
              </a:ext>
            </a:extLst>
          </p:cNvPr>
          <p:cNvSpPr txBox="1"/>
          <p:nvPr/>
        </p:nvSpPr>
        <p:spPr>
          <a:xfrm>
            <a:off x="-10583" y="6401424"/>
            <a:ext cx="6106583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2400" dirty="0">
                <a:solidFill>
                  <a:schemeClr val="bg1"/>
                </a:solidFill>
                <a:latin typeface="Futura"/>
                <a:cs typeface="Helvetica" panose="020B0604020202020204" pitchFamily="34" charset="0"/>
              </a:rPr>
              <a:t>Dusza Műhely 2025-2026</a:t>
            </a:r>
          </a:p>
        </p:txBody>
      </p:sp>
      <p:pic>
        <p:nvPicPr>
          <p:cNvPr id="11" name="Kép 7" descr="A képen embléma, szöveg, szimbólum, Védjegy látható&#10;&#10;Lehet, hogy az AI által létrehozott tartalom helytelen.">
            <a:extLst>
              <a:ext uri="{FF2B5EF4-FFF2-40B4-BE49-F238E27FC236}">
                <a16:creationId xmlns:a16="http://schemas.microsoft.com/office/drawing/2014/main" id="{E72E37C9-E27C-5D59-075F-317D80558E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91636" y="6292273"/>
            <a:ext cx="473767" cy="476003"/>
          </a:xfrm>
          <a:prstGeom prst="rect">
            <a:avLst/>
          </a:prstGeom>
        </p:spPr>
      </p:pic>
      <p:sp>
        <p:nvSpPr>
          <p:cNvPr id="13" name="Szövegdoboz 10">
            <a:extLst>
              <a:ext uri="{FF2B5EF4-FFF2-40B4-BE49-F238E27FC236}">
                <a16:creationId xmlns:a16="http://schemas.microsoft.com/office/drawing/2014/main" id="{2B419309-0061-12E1-34E3-AC06E27B86A4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351045" y="2368402"/>
            <a:ext cx="9489907" cy="200362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13800" b="1" dirty="0">
                <a:solidFill>
                  <a:srgbClr val="FFF3E7"/>
                </a:solidFill>
                <a:latin typeface="Bookman Old Style" panose="02050604050505020204" pitchFamily="18" charset="0"/>
              </a:rPr>
              <a:t>WORY</a:t>
            </a:r>
            <a:r>
              <a:rPr lang="en-US" sz="13800" b="1" dirty="0">
                <a:solidFill>
                  <a:srgbClr val="FFF3E7"/>
                </a:solidFill>
                <a:latin typeface="Bookman Old Style" panose="02050604050505020204" pitchFamily="18" charset="0"/>
              </a:rPr>
              <a:t>N</a:t>
            </a:r>
            <a:endParaRPr lang="hu-HU" sz="13800" b="1" dirty="0">
              <a:solidFill>
                <a:srgbClr val="FFF3E7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5972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r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58F0B7-F942-B0C9-F4E5-EB9CD6525C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60A18633-9797-2222-1E96-DEC82956568D}"/>
              </a:ext>
            </a:extLst>
          </p:cNvPr>
          <p:cNvGrpSpPr/>
          <p:nvPr/>
        </p:nvGrpSpPr>
        <p:grpSpPr>
          <a:xfrm>
            <a:off x="6816442" y="1842654"/>
            <a:ext cx="4752954" cy="5167746"/>
            <a:chOff x="470204" y="1690254"/>
            <a:chExt cx="4752954" cy="4395318"/>
          </a:xfrm>
          <a:gradFill>
            <a:gsLst>
              <a:gs pos="80000">
                <a:srgbClr val="0B2E10"/>
              </a:gs>
              <a:gs pos="0">
                <a:srgbClr val="000000">
                  <a:alpha val="0"/>
                </a:srgbClr>
              </a:gs>
              <a:gs pos="100000">
                <a:schemeClr val="accent3">
                  <a:lumMod val="50000"/>
                </a:schemeClr>
              </a:gs>
            </a:gsLst>
            <a:lin ang="5400000" scaled="1"/>
          </a:gradFill>
        </p:grpSpPr>
        <p:sp>
          <p:nvSpPr>
            <p:cNvPr id="8" name="Content Placeholder 2">
              <a:extLst>
                <a:ext uri="{FF2B5EF4-FFF2-40B4-BE49-F238E27FC236}">
                  <a16:creationId xmlns:a16="http://schemas.microsoft.com/office/drawing/2014/main" id="{1C862CC9-A91A-927F-BDCC-C59D2AFFF120}"/>
                </a:ext>
              </a:extLst>
            </p:cNvPr>
            <p:cNvSpPr txBox="1">
              <a:spLocks/>
            </p:cNvSpPr>
            <p:nvPr/>
          </p:nvSpPr>
          <p:spPr>
            <a:xfrm>
              <a:off x="470204" y="2461846"/>
              <a:ext cx="4752954" cy="3623726"/>
            </a:xfrm>
            <a:prstGeom prst="rect">
              <a:avLst/>
            </a:prstGeom>
            <a:grpFill/>
            <a:effectLst>
              <a:outerShdw blurRad="50800" dist="38100" dir="2700000" algn="tl" rotWithShape="0">
                <a:prstClr val="black"/>
              </a:outerShdw>
            </a:effectLst>
          </p:spPr>
          <p:txBody>
            <a:bodyPr lIns="91440" tIns="45720" rIns="91440" bIns="45720" anchor="t"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20000"/>
                </a:lnSpc>
                <a:buNone/>
              </a:pPr>
              <a:endParaRPr lang="hu-HU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endParaRPr>
            </a:p>
            <a:p>
              <a:pPr>
                <a:lnSpc>
                  <a:spcPct val="120000"/>
                </a:lnSpc>
              </a:pPr>
              <a:r>
                <a:rPr lang="hu-HU" b="1" dirty="0">
                  <a:solidFill>
                    <a:schemeClr val="accent3">
                      <a:lumMod val="20000"/>
                      <a:lumOff val="80000"/>
                    </a:schemeClr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Főmenü háttér</a:t>
              </a:r>
            </a:p>
            <a:p>
              <a:pPr>
                <a:lnSpc>
                  <a:spcPct val="120000"/>
                </a:lnSpc>
              </a:pPr>
              <a:r>
                <a:rPr lang="hu-HU" b="1" dirty="0">
                  <a:solidFill>
                    <a:schemeClr val="accent3">
                      <a:lumMod val="20000"/>
                      <a:lumOff val="80000"/>
                    </a:schemeClr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Többjátékos mód</a:t>
              </a:r>
            </a:p>
            <a:p>
              <a:pPr>
                <a:lnSpc>
                  <a:spcPct val="120000"/>
                </a:lnSpc>
              </a:pPr>
              <a:r>
                <a:rPr lang="hu-HU" b="1" dirty="0">
                  <a:solidFill>
                    <a:schemeClr val="accent3">
                      <a:lumMod val="20000"/>
                      <a:lumOff val="80000"/>
                    </a:schemeClr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Főmenü</a:t>
              </a:r>
            </a:p>
            <a:p>
              <a:pPr>
                <a:lnSpc>
                  <a:spcPct val="120000"/>
                </a:lnSpc>
              </a:pPr>
              <a:endParaRPr lang="hu-HU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9" name="Content Placeholder 2">
              <a:extLst>
                <a:ext uri="{FF2B5EF4-FFF2-40B4-BE49-F238E27FC236}">
                  <a16:creationId xmlns:a16="http://schemas.microsoft.com/office/drawing/2014/main" id="{0C62124F-14F6-89EC-3819-9339E191EF28}"/>
                </a:ext>
              </a:extLst>
            </p:cNvPr>
            <p:cNvSpPr txBox="1">
              <a:spLocks/>
            </p:cNvSpPr>
            <p:nvPr/>
          </p:nvSpPr>
          <p:spPr>
            <a:xfrm>
              <a:off x="470204" y="1690254"/>
              <a:ext cx="4752954" cy="655781"/>
            </a:xfrm>
            <a:prstGeom prst="rect">
              <a:avLst/>
            </a:prstGeom>
            <a:grpFill/>
            <a:effectLst>
              <a:softEdge rad="31750"/>
            </a:effectLst>
          </p:spPr>
          <p:txBody>
            <a:bodyPr anchor="ctr" anchorCtr="1"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hu-HU" sz="3600" b="1" dirty="0">
                  <a:solidFill>
                    <a:schemeClr val="bg1"/>
                  </a:solidFill>
                  <a:latin typeface="Felix Titling" panose="04060505060202020A04" pitchFamily="82" charset="0"/>
                </a:rPr>
                <a:t>Elkészült</a:t>
              </a:r>
              <a:endParaRPr lang="en-US" sz="3600" b="1" dirty="0">
                <a:solidFill>
                  <a:schemeClr val="bg1"/>
                </a:solidFill>
                <a:latin typeface="Felix Titling" panose="04060505060202020A04" pitchFamily="82" charset="0"/>
              </a:endParaRPr>
            </a:p>
          </p:txBody>
        </p:sp>
      </p:grp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421255DF-16C2-9156-D4FE-50A1FE16EDC9}"/>
              </a:ext>
            </a:extLst>
          </p:cNvPr>
          <p:cNvSpPr txBox="1">
            <a:spLocks/>
          </p:cNvSpPr>
          <p:nvPr/>
        </p:nvSpPr>
        <p:spPr>
          <a:xfrm>
            <a:off x="7135946" y="2461846"/>
            <a:ext cx="4752954" cy="3623726"/>
          </a:xfrm>
          <a:prstGeom prst="rect">
            <a:avLst/>
          </a:prstGeom>
          <a:effectLst>
            <a:outerShdw blurRad="50800" dist="38100" dir="2700000" algn="tl" rotWithShape="0">
              <a:prstClr val="black"/>
            </a:outerShdw>
          </a:effectLst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hu-HU" sz="2400" b="1" dirty="0">
                <a:solidFill>
                  <a:srgbClr val="FFC671"/>
                </a:solidFill>
                <a:latin typeface="Helvetica"/>
                <a:cs typeface="Helvetica"/>
              </a:rPr>
              <a:t>b</a:t>
            </a:r>
            <a:endParaRPr lang="hu-HU" sz="2400" b="1" dirty="0">
              <a:solidFill>
                <a:srgbClr val="FFC67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>
              <a:lnSpc>
                <a:spcPct val="120000"/>
              </a:lnSpc>
            </a:pPr>
            <a:endParaRPr lang="hu-HU" sz="2400" b="1" dirty="0">
              <a:solidFill>
                <a:srgbClr val="FFC67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3" name="Szövegdoboz 15">
            <a:extLst>
              <a:ext uri="{FF2B5EF4-FFF2-40B4-BE49-F238E27FC236}">
                <a16:creationId xmlns:a16="http://schemas.microsoft.com/office/drawing/2014/main" id="{D6060F24-7CB9-D775-F5FC-1135DA9A7EB3}"/>
              </a:ext>
            </a:extLst>
          </p:cNvPr>
          <p:cNvSpPr txBox="1"/>
          <p:nvPr/>
        </p:nvSpPr>
        <p:spPr>
          <a:xfrm>
            <a:off x="237678" y="169420"/>
            <a:ext cx="11751121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hu-HU" sz="7200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Terveink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224488D-8B95-85A4-64BE-E17A758CFEBA}"/>
              </a:ext>
            </a:extLst>
          </p:cNvPr>
          <p:cNvGrpSpPr/>
          <p:nvPr/>
        </p:nvGrpSpPr>
        <p:grpSpPr>
          <a:xfrm>
            <a:off x="622604" y="1842654"/>
            <a:ext cx="4752954" cy="5167746"/>
            <a:chOff x="470204" y="1690254"/>
            <a:chExt cx="4752954" cy="4395318"/>
          </a:xfrm>
          <a:gradFill flip="none" rotWithShape="1">
            <a:gsLst>
              <a:gs pos="0">
                <a:srgbClr val="000000">
                  <a:alpha val="0"/>
                </a:srgbClr>
              </a:gs>
              <a:gs pos="79000">
                <a:srgbClr val="451806"/>
              </a:gs>
              <a:gs pos="100000">
                <a:srgbClr val="4D1B07"/>
              </a:gs>
            </a:gsLst>
            <a:lin ang="5400000" scaled="1"/>
            <a:tileRect/>
          </a:gradFill>
        </p:grpSpPr>
        <p:sp>
          <p:nvSpPr>
            <p:cNvPr id="7" name="Content Placeholder 2">
              <a:extLst>
                <a:ext uri="{FF2B5EF4-FFF2-40B4-BE49-F238E27FC236}">
                  <a16:creationId xmlns:a16="http://schemas.microsoft.com/office/drawing/2014/main" id="{5D0A7D39-6C5B-E76E-5B43-41138532BCD3}"/>
                </a:ext>
              </a:extLst>
            </p:cNvPr>
            <p:cNvSpPr txBox="1">
              <a:spLocks/>
            </p:cNvSpPr>
            <p:nvPr/>
          </p:nvSpPr>
          <p:spPr>
            <a:xfrm>
              <a:off x="470204" y="2461846"/>
              <a:ext cx="4752954" cy="3623726"/>
            </a:xfrm>
            <a:prstGeom prst="rect">
              <a:avLst/>
            </a:prstGeom>
            <a:grpFill/>
            <a:effectLst>
              <a:outerShdw blurRad="50800" dist="38100" dir="2700000" algn="tl" rotWithShape="0">
                <a:prstClr val="black"/>
              </a:outerShdw>
            </a:effectLst>
          </p:spPr>
          <p:txBody>
            <a:bodyPr lIns="91440" tIns="45720" rIns="91440" bIns="45720" anchor="t"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</a:pPr>
              <a:endParaRPr lang="hu-HU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endParaRPr>
            </a:p>
            <a:p>
              <a:pPr>
                <a:lnSpc>
                  <a:spcPct val="120000"/>
                </a:lnSpc>
              </a:pPr>
              <a:r>
                <a:rPr lang="hu-HU" b="1" dirty="0">
                  <a:solidFill>
                    <a:srgbClr val="FFC671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UI fejlesztések</a:t>
              </a:r>
            </a:p>
            <a:p>
              <a:pPr>
                <a:lnSpc>
                  <a:spcPct val="120000"/>
                </a:lnSpc>
              </a:pPr>
              <a:r>
                <a:rPr lang="hu-HU" b="1" dirty="0">
                  <a:solidFill>
                    <a:srgbClr val="FFC671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Főmenü háttér</a:t>
              </a:r>
            </a:p>
            <a:p>
              <a:pPr>
                <a:lnSpc>
                  <a:spcPct val="120000"/>
                </a:lnSpc>
              </a:pPr>
              <a:r>
                <a:rPr lang="hu-HU" b="1" dirty="0">
                  <a:solidFill>
                    <a:srgbClr val="FFC671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Többjátékos mód</a:t>
              </a:r>
            </a:p>
            <a:p>
              <a:pPr>
                <a:lnSpc>
                  <a:spcPct val="120000"/>
                </a:lnSpc>
              </a:pPr>
              <a:r>
                <a:rPr lang="hu-HU" b="1" dirty="0">
                  <a:solidFill>
                    <a:srgbClr val="FFC671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Főmenü</a:t>
              </a:r>
            </a:p>
          </p:txBody>
        </p:sp>
        <p:sp>
          <p:nvSpPr>
            <p:cNvPr id="12" name="Content Placeholder 2">
              <a:extLst>
                <a:ext uri="{FF2B5EF4-FFF2-40B4-BE49-F238E27FC236}">
                  <a16:creationId xmlns:a16="http://schemas.microsoft.com/office/drawing/2014/main" id="{3B7349E7-0222-6478-1542-6BE20C4D87BB}"/>
                </a:ext>
              </a:extLst>
            </p:cNvPr>
            <p:cNvSpPr txBox="1">
              <a:spLocks/>
            </p:cNvSpPr>
            <p:nvPr/>
          </p:nvSpPr>
          <p:spPr>
            <a:xfrm>
              <a:off x="470204" y="1690254"/>
              <a:ext cx="4752954" cy="655781"/>
            </a:xfrm>
            <a:prstGeom prst="rect">
              <a:avLst/>
            </a:prstGeom>
            <a:grpFill/>
            <a:effectLst>
              <a:softEdge rad="31750"/>
            </a:effectLst>
          </p:spPr>
          <p:txBody>
            <a:bodyPr anchor="ctr" anchorCtr="1"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hu-HU" sz="3600" b="1" dirty="0">
                  <a:solidFill>
                    <a:schemeClr val="bg1"/>
                  </a:solidFill>
                  <a:latin typeface="Felix Titling" panose="04060505060202020A04" pitchFamily="82" charset="0"/>
                </a:rPr>
                <a:t>Tervben volt</a:t>
              </a:r>
              <a:endParaRPr lang="en-US" sz="3600" b="1" dirty="0">
                <a:solidFill>
                  <a:schemeClr val="bg1"/>
                </a:solidFill>
                <a:latin typeface="Felix Titling" panose="04060505060202020A04" pitchFamily="8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12314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rism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7000" b="-7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517795-679D-0360-28BE-24005A1877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zövegdoboz 15">
            <a:extLst>
              <a:ext uri="{FF2B5EF4-FFF2-40B4-BE49-F238E27FC236}">
                <a16:creationId xmlns:a16="http://schemas.microsoft.com/office/drawing/2014/main" id="{C261BFBC-51E3-4D57-438C-DE6C8DBF228C}"/>
              </a:ext>
            </a:extLst>
          </p:cNvPr>
          <p:cNvSpPr txBox="1"/>
          <p:nvPr/>
        </p:nvSpPr>
        <p:spPr>
          <a:xfrm>
            <a:off x="237678" y="169420"/>
            <a:ext cx="11751121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hu-HU" sz="7200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Terveink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9F03160-EDA2-23AA-9CB2-BA92EF052DDA}"/>
              </a:ext>
            </a:extLst>
          </p:cNvPr>
          <p:cNvGrpSpPr/>
          <p:nvPr/>
        </p:nvGrpSpPr>
        <p:grpSpPr>
          <a:xfrm>
            <a:off x="622603" y="1842654"/>
            <a:ext cx="10876669" cy="5167746"/>
            <a:chOff x="470204" y="1690254"/>
            <a:chExt cx="4752954" cy="4395318"/>
          </a:xfrm>
          <a:gradFill flip="none" rotWithShape="1">
            <a:gsLst>
              <a:gs pos="75000">
                <a:srgbClr val="092836"/>
              </a:gs>
              <a:gs pos="0">
                <a:srgbClr val="000000">
                  <a:alpha val="0"/>
                </a:srgbClr>
              </a:gs>
              <a:gs pos="100000">
                <a:schemeClr val="accent1">
                  <a:lumMod val="50000"/>
                </a:schemeClr>
              </a:gs>
            </a:gsLst>
            <a:lin ang="5400000" scaled="1"/>
            <a:tileRect/>
          </a:gradFill>
        </p:grpSpPr>
        <p:sp>
          <p:nvSpPr>
            <p:cNvPr id="7" name="Content Placeholder 2">
              <a:extLst>
                <a:ext uri="{FF2B5EF4-FFF2-40B4-BE49-F238E27FC236}">
                  <a16:creationId xmlns:a16="http://schemas.microsoft.com/office/drawing/2014/main" id="{4ABDA5FC-73DE-45FD-7900-50978F3F863E}"/>
                </a:ext>
              </a:extLst>
            </p:cNvPr>
            <p:cNvSpPr txBox="1">
              <a:spLocks/>
            </p:cNvSpPr>
            <p:nvPr/>
          </p:nvSpPr>
          <p:spPr>
            <a:xfrm>
              <a:off x="470204" y="2461846"/>
              <a:ext cx="4752954" cy="3623726"/>
            </a:xfrm>
            <a:prstGeom prst="rect">
              <a:avLst/>
            </a:prstGeom>
            <a:grpFill/>
            <a:effectLst>
              <a:outerShdw blurRad="50800" dist="38100" dir="2700000" algn="tl" rotWithShape="0">
                <a:prstClr val="black"/>
              </a:outerShdw>
            </a:effectLst>
          </p:spPr>
          <p:txBody>
            <a:bodyPr lIns="91440" tIns="45720" rIns="91440" bIns="45720" anchor="t"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20000"/>
                </a:lnSpc>
                <a:buNone/>
              </a:pPr>
              <a:endParaRPr lang="hu-HU" sz="36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endParaRPr>
            </a:p>
            <a:p>
              <a:pPr algn="ctr">
                <a:lnSpc>
                  <a:spcPct val="120000"/>
                </a:lnSpc>
              </a:pPr>
              <a:r>
                <a:rPr lang="hu-HU" sz="3600" b="1" dirty="0">
                  <a:solidFill>
                    <a:srgbClr val="FFC671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Játék részeinek egységesítése</a:t>
              </a:r>
            </a:p>
            <a:p>
              <a:pPr algn="ctr">
                <a:lnSpc>
                  <a:spcPct val="120000"/>
                </a:lnSpc>
              </a:pPr>
              <a:r>
                <a:rPr lang="hu-HU" sz="3600" b="1" dirty="0">
                  <a:solidFill>
                    <a:srgbClr val="FFC671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Egyjátékos mód megtervezése</a:t>
              </a:r>
            </a:p>
            <a:p>
              <a:pPr algn="ctr">
                <a:lnSpc>
                  <a:spcPct val="120000"/>
                </a:lnSpc>
              </a:pPr>
              <a:r>
                <a:rPr lang="hu-HU" sz="3600" b="1" dirty="0">
                  <a:solidFill>
                    <a:srgbClr val="FFC671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Hangok és hangrendszer</a:t>
              </a:r>
            </a:p>
          </p:txBody>
        </p:sp>
        <p:sp>
          <p:nvSpPr>
            <p:cNvPr id="12" name="Content Placeholder 2">
              <a:extLst>
                <a:ext uri="{FF2B5EF4-FFF2-40B4-BE49-F238E27FC236}">
                  <a16:creationId xmlns:a16="http://schemas.microsoft.com/office/drawing/2014/main" id="{4B7E5D57-407A-BEFA-1D69-15D0D5EF4C19}"/>
                </a:ext>
              </a:extLst>
            </p:cNvPr>
            <p:cNvSpPr txBox="1">
              <a:spLocks/>
            </p:cNvSpPr>
            <p:nvPr/>
          </p:nvSpPr>
          <p:spPr>
            <a:xfrm>
              <a:off x="470204" y="1690254"/>
              <a:ext cx="4752954" cy="655781"/>
            </a:xfrm>
            <a:prstGeom prst="rect">
              <a:avLst/>
            </a:prstGeom>
            <a:grpFill/>
            <a:effectLst>
              <a:softEdge rad="31750"/>
            </a:effectLst>
          </p:spPr>
          <p:txBody>
            <a:bodyPr anchor="ctr" anchorCtr="1"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hu-HU" sz="3600" b="1" dirty="0">
                  <a:solidFill>
                    <a:schemeClr val="bg1"/>
                  </a:solidFill>
                  <a:latin typeface="Felix Titling" panose="04060505060202020A04" pitchFamily="82" charset="0"/>
                </a:rPr>
                <a:t>A következő workshopra</a:t>
              </a:r>
              <a:endParaRPr lang="en-US" sz="3600" b="1" dirty="0">
                <a:solidFill>
                  <a:schemeClr val="bg1"/>
                </a:solidFill>
                <a:latin typeface="Felix Titling" panose="04060505060202020A04" pitchFamily="8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3358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r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5000" b="-15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A3451F-C881-B8D5-0D67-8CC152E76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zövegdoboz 15">
            <a:extLst>
              <a:ext uri="{FF2B5EF4-FFF2-40B4-BE49-F238E27FC236}">
                <a16:creationId xmlns:a16="http://schemas.microsoft.com/office/drawing/2014/main" id="{1505AA6F-94B9-E0CE-BCE3-3A4AE806FBAB}"/>
              </a:ext>
            </a:extLst>
          </p:cNvPr>
          <p:cNvSpPr txBox="1"/>
          <p:nvPr/>
        </p:nvSpPr>
        <p:spPr>
          <a:xfrm>
            <a:off x="237678" y="169420"/>
            <a:ext cx="11801921" cy="11079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hu-HU" sz="6600" b="1" dirty="0" err="1">
                <a:solidFill>
                  <a:schemeClr val="bg1"/>
                </a:solidFill>
                <a:latin typeface="Bookman Old Style" panose="02050604050505020204" pitchFamily="18" charset="0"/>
              </a:rPr>
              <a:t>Trello</a:t>
            </a:r>
            <a:endParaRPr lang="hu-HU" sz="6600" b="1" dirty="0">
              <a:solidFill>
                <a:schemeClr val="bg1"/>
              </a:solidFill>
              <a:latin typeface="Bookman Old Style" panose="02050604050505020204" pitchFamily="18" charset="0"/>
            </a:endParaRPr>
          </a:p>
        </p:txBody>
      </p:sp>
      <p:pic>
        <p:nvPicPr>
          <p:cNvPr id="3" name="Kép 2" descr="A képen szöveg, képernyőkép, Multimédiás szoftver, szoftver látható&#10;&#10;Lehet, hogy az AI által létrehozott tartalom helytelen.">
            <a:extLst>
              <a:ext uri="{FF2B5EF4-FFF2-40B4-BE49-F238E27FC236}">
                <a16:creationId xmlns:a16="http://schemas.microsoft.com/office/drawing/2014/main" id="{F9DB6406-7F89-DC63-71D9-F4EE92D823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559" y="2070738"/>
            <a:ext cx="11877040" cy="417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7711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rism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5000" b="-15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8A5EFD-E674-4074-519A-A88171DA09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zövegdoboz 15">
            <a:extLst>
              <a:ext uri="{FF2B5EF4-FFF2-40B4-BE49-F238E27FC236}">
                <a16:creationId xmlns:a16="http://schemas.microsoft.com/office/drawing/2014/main" id="{D11CA879-B00F-4C7C-3C8C-EC82187A2D3D}"/>
              </a:ext>
            </a:extLst>
          </p:cNvPr>
          <p:cNvSpPr txBox="1"/>
          <p:nvPr/>
        </p:nvSpPr>
        <p:spPr>
          <a:xfrm>
            <a:off x="237678" y="169420"/>
            <a:ext cx="11801921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5400" b="1" dirty="0" err="1">
                <a:solidFill>
                  <a:schemeClr val="bg1"/>
                </a:solidFill>
                <a:latin typeface="Bookman Old Style" panose="02050604050505020204" pitchFamily="18" charset="0"/>
              </a:rPr>
              <a:t>Github</a:t>
            </a:r>
            <a:endParaRPr lang="hu-HU" sz="5400" b="1" dirty="0">
              <a:solidFill>
                <a:schemeClr val="bg1"/>
              </a:solidFill>
              <a:latin typeface="Bookman Old Style" panose="020506040505050202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B4CEF0-CA7E-171D-847B-60DC4A57A2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1" y="1002537"/>
            <a:ext cx="7693741" cy="260469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A83FDB6-F288-DFB3-6812-ED12EA524C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0180" y="3728237"/>
            <a:ext cx="8863212" cy="2865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2881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r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6000" b="-16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7A22D6-B84B-B1ED-637F-87B7BC7747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zövegdoboz 15">
            <a:extLst>
              <a:ext uri="{FF2B5EF4-FFF2-40B4-BE49-F238E27FC236}">
                <a16:creationId xmlns:a16="http://schemas.microsoft.com/office/drawing/2014/main" id="{D0EF3BD0-8C0A-065B-9B85-5919BC128ED2}"/>
              </a:ext>
            </a:extLst>
          </p:cNvPr>
          <p:cNvSpPr txBox="1"/>
          <p:nvPr/>
        </p:nvSpPr>
        <p:spPr>
          <a:xfrm>
            <a:off x="1487523" y="1851645"/>
            <a:ext cx="9216953" cy="264687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hu-HU" sz="16600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GODOT</a:t>
            </a:r>
          </a:p>
        </p:txBody>
      </p:sp>
    </p:spTree>
    <p:extLst>
      <p:ext uri="{BB962C8B-B14F-4D97-AF65-F5344CB8AC3E}">
        <p14:creationId xmlns:p14="http://schemas.microsoft.com/office/powerpoint/2010/main" val="21842868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</TotalTime>
  <Words>38</Words>
  <Application>Microsoft Office PowerPoint</Application>
  <PresentationFormat>Widescreen</PresentationFormat>
  <Paragraphs>24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Aptos</vt:lpstr>
      <vt:lpstr>Aptos Display</vt:lpstr>
      <vt:lpstr>Arial</vt:lpstr>
      <vt:lpstr>Bookman Old Style</vt:lpstr>
      <vt:lpstr>Felix Titling</vt:lpstr>
      <vt:lpstr>Futura</vt:lpstr>
      <vt:lpstr>Helvetica</vt:lpstr>
      <vt:lpstr>Office Theme</vt:lpstr>
      <vt:lpstr>WORYN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Peter Sandor Toth</dc:creator>
  <cp:lastModifiedBy>Peter Sandor Toth</cp:lastModifiedBy>
  <cp:revision>45</cp:revision>
  <dcterms:created xsi:type="dcterms:W3CDTF">2025-12-05T18:24:15Z</dcterms:created>
  <dcterms:modified xsi:type="dcterms:W3CDTF">2026-01-17T07:00:37Z</dcterms:modified>
</cp:coreProperties>
</file>