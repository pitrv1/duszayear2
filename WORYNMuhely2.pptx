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66" r:id="rId4"/>
    <p:sldId id="268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71"/>
    <a:srgbClr val="FF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7CD5-5D9F-83A4-7BAF-FDEB974D8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0934F-2558-FDD1-0999-FA3707C59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3B2C1-057C-87B4-BEA8-A5D9BFD6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4B5A-C3D6-99FE-4971-B097C3A7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A814-5DEA-29DC-6043-8422723F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5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3973-6D5C-00AE-4578-01120D36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3F25-FC77-CC79-BFB8-0CFFB31A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B4DA-B843-B31C-01F3-262B3A81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384B9-3054-577B-9839-E2216DB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A2B5D-06C0-0F59-C2A7-1BBA86DC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3C49-780A-1C60-B95A-F1820A26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98F74-174A-C0EC-3574-6B1EF4AA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F09E-58DA-35E2-4985-30F64164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02875-96E7-0121-EAE2-CD7E862A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643AD-558F-D334-1261-207ECF09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5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DDA1-975B-50DD-8327-37E9B7BB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35C8-BB9F-7C11-3865-9F4EC5591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F85F9-2A07-6756-987F-B747BBF9C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8D078-AC76-BD63-FB0B-8F4E74E2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A209-9BE8-C5FA-C137-F7A78F3B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35417-8501-CDB7-A445-DAF9863E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4900-56AF-D90C-E261-B23B241C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B240F-DBF0-ECDD-7E2C-2CF911AF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1A1BD-1ABC-0A09-C1AC-AE171000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BD621-C832-B91B-C7CC-9500DE1CC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E24B5-7FFC-8925-3094-28A388283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47621-0AFC-532E-08A0-C7CA91EA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7C8E6-85FA-7328-F574-0FE263F7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CEA9B-24D3-F16A-F254-02C6ACE1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B267-3EDF-7775-C972-9B85F848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D7C50-D2ED-9C8B-3AC6-36078546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C1AD-967F-1FEE-9749-65145D5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4E595-6689-0D11-8BEC-A16AD3AB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B49B4-57F8-050F-BEA2-6399F226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5EB5E-D222-1696-FE55-126519C5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37941-9652-BED0-FF8F-8B0CF97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9039-BC39-3541-8E27-20DE8A92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E0A2-FF33-2240-38BB-925AB8B8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08A12-37A0-94BD-2343-214D4505D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CA14C-1A02-4A46-A916-61DE7E2B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370D7-55AD-ABB0-9891-B26D1657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4F8E6-1499-AC0A-CD73-15DED77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BB9D-EEB2-B14E-8686-D4477081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F0236-A7BA-2909-7FC0-EDA9CA2AC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29125-D1D2-FBB2-6444-08048946E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37AB-353A-DEE1-FE65-1B6FC66D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5A0DD-A569-6072-E3B0-558F8AA7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A6454-35FC-A5F6-7B90-ABBEFF96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9E26-F332-99B1-105C-FC98ACE8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CB791-E5C5-5678-BAC2-0B3DF8287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DAE1-53B8-C4E5-9A24-12D4801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23EE-7CB1-824D-38BA-40B0D19A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D3E4-0A1B-BAF5-D0FF-E6F0242D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5826C-C64C-2B78-41ED-15BE45368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C2047-B769-4D83-DBF7-C77CBF60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CE0E-7FE1-4CB0-F383-D424EAEE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4CA4-2C04-59AE-3272-1BBF37E0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4A16-4062-2389-436F-543B2AA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5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2E6D1-3BDB-23DD-9735-FFF2466B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3075E-C94B-6284-EEED-47AEEC3E6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D619-05C2-4444-3461-80B33CD5A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B7AA-68A5-4367-9248-FD821E8A2C2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394A3-26F1-ED56-F40D-07C6503BE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C5FE4-06A3-F770-558A-57FF09DEF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7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 t="-12000" b="-1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B8CB9-A04E-8CF0-F0A7-ADC72F49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2" descr="A képen Szimmetria, tér, képernyőkép, minta látható&#10;&#10;Lehet, hogy az AI által létrehozott tartalom helytelen.">
            <a:extLst>
              <a:ext uri="{FF2B5EF4-FFF2-40B4-BE49-F238E27FC236}">
                <a16:creationId xmlns:a16="http://schemas.microsoft.com/office/drawing/2014/main" id="{DD334B6A-5860-70E4-4E12-4519C4208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510" y="3429000"/>
            <a:ext cx="2816978" cy="457410"/>
          </a:xfrm>
          <a:prstGeom prst="rect">
            <a:avLst/>
          </a:prstGeom>
        </p:spPr>
      </p:pic>
      <p:sp>
        <p:nvSpPr>
          <p:cNvPr id="10" name="Szövegdoboz 4">
            <a:extLst>
              <a:ext uri="{FF2B5EF4-FFF2-40B4-BE49-F238E27FC236}">
                <a16:creationId xmlns:a16="http://schemas.microsoft.com/office/drawing/2014/main" id="{00D9E922-33AD-C931-33DD-CB7CC4458474}"/>
              </a:ext>
            </a:extLst>
          </p:cNvPr>
          <p:cNvSpPr txBox="1"/>
          <p:nvPr/>
        </p:nvSpPr>
        <p:spPr>
          <a:xfrm>
            <a:off x="-10583" y="6401424"/>
            <a:ext cx="61065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Futura"/>
                <a:cs typeface="Helvetica" panose="020B0604020202020204" pitchFamily="34" charset="0"/>
              </a:rPr>
              <a:t>Dusza Műhely 2025-2026</a:t>
            </a:r>
          </a:p>
        </p:txBody>
      </p:sp>
      <p:pic>
        <p:nvPicPr>
          <p:cNvPr id="11" name="Kép 7" descr="A képen embléma, szöveg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E72E37C9-E27C-5D59-075F-317D80558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7999" y="5460256"/>
            <a:ext cx="1166495" cy="1172001"/>
          </a:xfrm>
          <a:prstGeom prst="rect">
            <a:avLst/>
          </a:prstGeom>
        </p:spPr>
      </p:pic>
      <p:sp>
        <p:nvSpPr>
          <p:cNvPr id="13" name="Szövegdoboz 10">
            <a:extLst>
              <a:ext uri="{FF2B5EF4-FFF2-40B4-BE49-F238E27FC236}">
                <a16:creationId xmlns:a16="http://schemas.microsoft.com/office/drawing/2014/main" id="{2B419309-0061-12E1-34E3-AC06E27B86A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1045" y="1568310"/>
            <a:ext cx="9489907" cy="24552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600" b="1" dirty="0">
                <a:solidFill>
                  <a:srgbClr val="FFF3E7"/>
                </a:solidFill>
                <a:latin typeface="Colonna MT" panose="04020805060202030203" pitchFamily="82" charset="0"/>
              </a:rPr>
              <a:t>WORY</a:t>
            </a:r>
            <a:r>
              <a:rPr lang="en-US" sz="16600" b="1" dirty="0">
                <a:solidFill>
                  <a:srgbClr val="FFF3E7"/>
                </a:solidFill>
                <a:latin typeface="Colonna MT" panose="04020805060202030203" pitchFamily="82" charset="0"/>
              </a:rPr>
              <a:t>N</a:t>
            </a:r>
            <a:endParaRPr lang="hu-HU" sz="16600" b="1" dirty="0">
              <a:solidFill>
                <a:srgbClr val="FFF3E7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72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8F0B7-F942-B0C9-F4E5-EB9CD652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A18633-9797-2222-1E96-DEC82956568D}"/>
              </a:ext>
            </a:extLst>
          </p:cNvPr>
          <p:cNvGrpSpPr/>
          <p:nvPr/>
        </p:nvGrpSpPr>
        <p:grpSpPr>
          <a:xfrm>
            <a:off x="237679" y="1466080"/>
            <a:ext cx="5218004" cy="4746973"/>
            <a:chOff x="237679" y="1466080"/>
            <a:chExt cx="5218004" cy="4746973"/>
          </a:xfrm>
        </p:grpSpPr>
        <p:pic>
          <p:nvPicPr>
            <p:cNvPr id="5" name="Picture 4" descr="A brown rectangular object with black border&#10;&#10;AI-generated content may be incorrect.">
              <a:extLst>
                <a:ext uri="{FF2B5EF4-FFF2-40B4-BE49-F238E27FC236}">
                  <a16:creationId xmlns:a16="http://schemas.microsoft.com/office/drawing/2014/main" id="{AFD3608A-AFB9-7D25-2F05-2C527D01E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7679" y="1466080"/>
              <a:ext cx="5218004" cy="4746973"/>
            </a:xfrm>
            <a:prstGeom prst="rect">
              <a:avLst/>
            </a:prstGeom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1C862CC9-A91A-927F-BDCC-C59D2AFFF120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hu-HU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Pont kártyák</a:t>
              </a:r>
            </a:p>
            <a:p>
              <a:pPr>
                <a:lnSpc>
                  <a:spcPct val="120000"/>
                </a:lnSpc>
              </a:pPr>
              <a:r>
                <a:rPr lang="hu-HU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Változtató kártyák</a:t>
              </a:r>
              <a:endPara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sz="24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Alap játékfolyam</a:t>
              </a:r>
              <a:endParaRPr lang="en-US" sz="2400" b="1" dirty="0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sz="24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Mechanikák összekötése a vizuális oldallal</a:t>
              </a:r>
            </a:p>
            <a:p>
              <a:pPr>
                <a:lnSpc>
                  <a:spcPct val="120000"/>
                </a:lnSpc>
              </a:pPr>
              <a:r>
                <a:rPr lang="hu-HU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Alap környezet modellezése</a:t>
              </a:r>
              <a:endPara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0C62124F-14F6-89EC-3819-9339E191EF28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9021"/>
              <a:ext cx="4752954" cy="63534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dirty="0">
                  <a:solidFill>
                    <a:srgbClr val="FFF3E7"/>
                  </a:solidFill>
                  <a:latin typeface="Felix Titling" panose="04060505060202020A04" pitchFamily="82" charset="0"/>
                </a:rPr>
                <a:t>Tervben volt</a:t>
              </a:r>
              <a:endParaRPr lang="en-US" sz="3600" dirty="0">
                <a:solidFill>
                  <a:srgbClr val="FFF3E7"/>
                </a:solidFill>
                <a:latin typeface="Felix Titling" panose="04060505060202020A04" pitchFamily="8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84B69C-25EE-2446-43BD-D050F87A5A2F}"/>
              </a:ext>
            </a:extLst>
          </p:cNvPr>
          <p:cNvGrpSpPr/>
          <p:nvPr/>
        </p:nvGrpSpPr>
        <p:grpSpPr>
          <a:xfrm>
            <a:off x="6724357" y="1466079"/>
            <a:ext cx="5218004" cy="4746973"/>
            <a:chOff x="237679" y="1466080"/>
            <a:chExt cx="5218004" cy="4746973"/>
          </a:xfrm>
        </p:grpSpPr>
        <p:pic>
          <p:nvPicPr>
            <p:cNvPr id="19" name="Picture 18" descr="A brown rectangular object with black border&#10;&#10;AI-generated content may be incorrect.">
              <a:extLst>
                <a:ext uri="{FF2B5EF4-FFF2-40B4-BE49-F238E27FC236}">
                  <a16:creationId xmlns:a16="http://schemas.microsoft.com/office/drawing/2014/main" id="{2E281D7E-C910-3272-10A1-40338FFB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7679" y="1466080"/>
              <a:ext cx="5218004" cy="4746973"/>
            </a:xfrm>
            <a:prstGeom prst="rect">
              <a:avLst/>
            </a:prstGeom>
          </p:spPr>
        </p:pic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33643F01-C447-1AE8-9D2C-B2F1B119918D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9021"/>
              <a:ext cx="4752954" cy="63534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dirty="0" err="1">
                  <a:solidFill>
                    <a:srgbClr val="FFF3E7"/>
                  </a:solidFill>
                  <a:latin typeface="Felix Titling" panose="04060505060202020A04" pitchFamily="82" charset="0"/>
                </a:rPr>
                <a:t>ElKészült</a:t>
              </a:r>
              <a:endParaRPr lang="en-US" sz="3600" dirty="0">
                <a:solidFill>
                  <a:srgbClr val="FFF3E7"/>
                </a:solidFill>
                <a:latin typeface="Felix Titling" panose="04060505060202020A04" pitchFamily="82" charset="0"/>
              </a:endParaRP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21255DF-16C2-9156-D4FE-50A1FE16EDC9}"/>
              </a:ext>
            </a:extLst>
          </p:cNvPr>
          <p:cNvSpPr txBox="1">
            <a:spLocks/>
          </p:cNvSpPr>
          <p:nvPr/>
        </p:nvSpPr>
        <p:spPr>
          <a:xfrm>
            <a:off x="7135946" y="2461846"/>
            <a:ext cx="4752954" cy="3623726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u-HU" sz="2400" b="1" dirty="0" err="1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Irjatok</a:t>
            </a:r>
            <a:r>
              <a:rPr lang="hu-HU" sz="2400" b="1" dirty="0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meg ide </a:t>
            </a:r>
            <a:r>
              <a:rPr lang="hu-HU" sz="2400" b="1" dirty="0" err="1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pls</a:t>
            </a:r>
            <a:r>
              <a:rPr lang="hu-HU" sz="2400" b="1" dirty="0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…………</a:t>
            </a:r>
          </a:p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rgbClr val="FFC67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Alap játékfolyam leprogramozása</a:t>
            </a:r>
            <a:endParaRPr lang="en-US" sz="2400" b="1" dirty="0">
              <a:solidFill>
                <a:srgbClr val="FFC67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Alap környezet modellezése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Szövegdoboz 15">
            <a:extLst>
              <a:ext uri="{FF2B5EF4-FFF2-40B4-BE49-F238E27FC236}">
                <a16:creationId xmlns:a16="http://schemas.microsoft.com/office/drawing/2014/main" id="{D6060F24-7CB9-D775-F5FC-1135DA9A7EB3}"/>
              </a:ext>
            </a:extLst>
          </p:cNvPr>
          <p:cNvSpPr txBox="1"/>
          <p:nvPr/>
        </p:nvSpPr>
        <p:spPr>
          <a:xfrm>
            <a:off x="237679" y="169420"/>
            <a:ext cx="66298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Colonna MT" panose="04020805060202030203" pitchFamily="82" charset="0"/>
              </a:rPr>
              <a:t>Terveink</a:t>
            </a:r>
          </a:p>
        </p:txBody>
      </p:sp>
    </p:spTree>
    <p:extLst>
      <p:ext uri="{BB962C8B-B14F-4D97-AF65-F5344CB8AC3E}">
        <p14:creationId xmlns:p14="http://schemas.microsoft.com/office/powerpoint/2010/main" val="411231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16FF5-F12C-1219-9EF7-E83DA511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CCC2528-BBBD-6263-655B-74584151DF98}"/>
              </a:ext>
            </a:extLst>
          </p:cNvPr>
          <p:cNvGrpSpPr/>
          <p:nvPr/>
        </p:nvGrpSpPr>
        <p:grpSpPr>
          <a:xfrm>
            <a:off x="1091419" y="1397170"/>
            <a:ext cx="10009162" cy="4746973"/>
            <a:chOff x="237679" y="1459046"/>
            <a:chExt cx="5218004" cy="4746973"/>
          </a:xfrm>
        </p:grpSpPr>
        <p:pic>
          <p:nvPicPr>
            <p:cNvPr id="5" name="Picture 4" descr="A brown rectangular object with black border&#10;&#10;AI-generated content may be incorrect.">
              <a:extLst>
                <a:ext uri="{FF2B5EF4-FFF2-40B4-BE49-F238E27FC236}">
                  <a16:creationId xmlns:a16="http://schemas.microsoft.com/office/drawing/2014/main" id="{35184E38-B6A7-B4BA-30F2-A379A32E1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37679" y="1459046"/>
              <a:ext cx="5218004" cy="4746973"/>
            </a:xfrm>
            <a:prstGeom prst="rect">
              <a:avLst/>
            </a:prstGeom>
          </p:spPr>
        </p:pic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61CBB25F-7DF6-6FB6-2B28-F4B340814839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9021"/>
              <a:ext cx="4752954" cy="635346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dirty="0">
                  <a:solidFill>
                    <a:srgbClr val="FFF3E7"/>
                  </a:solidFill>
                  <a:latin typeface="Felix Titling" panose="04060505060202020A04" pitchFamily="82" charset="0"/>
                </a:rPr>
                <a:t>Jelenlegi terveink</a:t>
              </a:r>
              <a:endParaRPr lang="en-US" sz="3600" dirty="0">
                <a:solidFill>
                  <a:srgbClr val="FFF3E7"/>
                </a:solidFill>
                <a:latin typeface="Felix Titling" panose="04060505060202020A04" pitchFamily="82" charset="0"/>
              </a:endParaRPr>
            </a:p>
          </p:txBody>
        </p:sp>
      </p:grpSp>
      <p:sp>
        <p:nvSpPr>
          <p:cNvPr id="2" name="Szövegdoboz 15">
            <a:extLst>
              <a:ext uri="{FF2B5EF4-FFF2-40B4-BE49-F238E27FC236}">
                <a16:creationId xmlns:a16="http://schemas.microsoft.com/office/drawing/2014/main" id="{3CEFDDC1-40F6-C1DD-ADE9-C448CFF574F9}"/>
              </a:ext>
            </a:extLst>
          </p:cNvPr>
          <p:cNvSpPr txBox="1"/>
          <p:nvPr/>
        </p:nvSpPr>
        <p:spPr>
          <a:xfrm>
            <a:off x="237679" y="169420"/>
            <a:ext cx="66298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Colonna MT" panose="04020805060202030203" pitchFamily="82" charset="0"/>
              </a:rPr>
              <a:t>Terveink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A01D-A030-7619-995D-FE5F978F5E6F}"/>
              </a:ext>
            </a:extLst>
          </p:cNvPr>
          <p:cNvSpPr txBox="1">
            <a:spLocks/>
          </p:cNvSpPr>
          <p:nvPr/>
        </p:nvSpPr>
        <p:spPr>
          <a:xfrm>
            <a:off x="1410559" y="3063346"/>
            <a:ext cx="9370882" cy="1811162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lang="hu-HU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öbbjátékos</a:t>
            </a:r>
            <a:r>
              <a:rPr lang="hu-HU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mód korai tesztelése</a:t>
            </a:r>
          </a:p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Mechanikák vizuális megjelenítése</a:t>
            </a:r>
          </a:p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Kódrészletek </a:t>
            </a:r>
            <a:r>
              <a:rPr lang="hu-HU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refaktorálása</a:t>
            </a:r>
            <a:endParaRPr lang="hu-HU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77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3451F-C881-B8D5-0D67-8CC152E7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own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1B855465-298E-6BE7-18CF-5E60E37BF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1419" y="1092750"/>
            <a:ext cx="10009162" cy="5594127"/>
          </a:xfrm>
          <a:prstGeom prst="rect">
            <a:avLst/>
          </a:prstGeom>
        </p:spPr>
      </p:pic>
      <p:sp>
        <p:nvSpPr>
          <p:cNvPr id="2" name="Szövegdoboz 15">
            <a:extLst>
              <a:ext uri="{FF2B5EF4-FFF2-40B4-BE49-F238E27FC236}">
                <a16:creationId xmlns:a16="http://schemas.microsoft.com/office/drawing/2014/main" id="{1505AA6F-94B9-E0CE-BCE3-3A4AE806FBAB}"/>
              </a:ext>
            </a:extLst>
          </p:cNvPr>
          <p:cNvSpPr txBox="1"/>
          <p:nvPr/>
        </p:nvSpPr>
        <p:spPr>
          <a:xfrm>
            <a:off x="237679" y="169420"/>
            <a:ext cx="66298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5400" dirty="0" err="1">
                <a:solidFill>
                  <a:schemeClr val="bg1"/>
                </a:solidFill>
                <a:latin typeface="Colonna MT" panose="04020805060202030203" pitchFamily="82" charset="0"/>
              </a:rPr>
              <a:t>Trello</a:t>
            </a:r>
            <a:endParaRPr lang="hu-HU" sz="5400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5B3BAD-F2DF-E72A-E3DF-EAAF51F9B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759087"/>
            <a:ext cx="9626600" cy="43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1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</a:extLst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A22D6-B84B-B1ED-637F-87B7BC77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D0EF3BD0-8C0A-065B-9B85-5919BC128ED2}"/>
              </a:ext>
            </a:extLst>
          </p:cNvPr>
          <p:cNvSpPr txBox="1"/>
          <p:nvPr/>
        </p:nvSpPr>
        <p:spPr>
          <a:xfrm>
            <a:off x="2781083" y="2321004"/>
            <a:ext cx="662983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3800" dirty="0">
                <a:solidFill>
                  <a:schemeClr val="bg1"/>
                </a:solidFill>
                <a:latin typeface="Colonna MT" panose="04020805060202030203" pitchFamily="82" charset="0"/>
              </a:rPr>
              <a:t>GODOT</a:t>
            </a:r>
          </a:p>
        </p:txBody>
      </p:sp>
    </p:spTree>
    <p:extLst>
      <p:ext uri="{BB962C8B-B14F-4D97-AF65-F5344CB8AC3E}">
        <p14:creationId xmlns:p14="http://schemas.microsoft.com/office/powerpoint/2010/main" val="218428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Colonna MT</vt:lpstr>
      <vt:lpstr>Felix Titling</vt:lpstr>
      <vt:lpstr>Futura</vt:lpstr>
      <vt:lpstr>Helvetica</vt:lpstr>
      <vt:lpstr>Office Theme</vt:lpstr>
      <vt:lpstr>WORYN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Sandor Toth</dc:creator>
  <cp:lastModifiedBy>Peter Sandor Toth</cp:lastModifiedBy>
  <cp:revision>1</cp:revision>
  <dcterms:created xsi:type="dcterms:W3CDTF">2025-12-05T18:24:15Z</dcterms:created>
  <dcterms:modified xsi:type="dcterms:W3CDTF">2025-12-05T19:51:57Z</dcterms:modified>
</cp:coreProperties>
</file>