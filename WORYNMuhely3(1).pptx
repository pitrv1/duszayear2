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69" r:id="rId4"/>
    <p:sldId id="268" r:id="rId5"/>
    <p:sldId id="270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71"/>
    <a:srgbClr val="4D1B07"/>
    <a:srgbClr val="000000"/>
    <a:srgbClr val="F0F8FD"/>
    <a:srgbClr val="FF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CA448-8BDF-4C40-87BD-3BBD18415332}" v="55" dt="2026-01-15T20:36:17.192"/>
    <p1510:client id="{F421EDB5-A64C-4339-AA3C-5E8E6DD839BB}" v="23" dt="2026-01-17T06:44:48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7CD5-5D9F-83A4-7BAF-FDEB974D8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0934F-2558-FDD1-0999-FA3707C59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3B2C1-057C-87B4-BEA8-A5D9BFD6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64B5A-C3D6-99FE-4971-B097C3A7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A814-5DEA-29DC-6043-8422723F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5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3973-6D5C-00AE-4578-01120D36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3F25-FC77-CC79-BFB8-0CFFB31AF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B4DA-B843-B31C-01F3-262B3A81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384B9-3054-577B-9839-E2216DB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A2B5D-06C0-0F59-C2A7-1BBA86DC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3C49-780A-1C60-B95A-F1820A26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98F74-174A-C0EC-3574-6B1EF4AA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F09E-58DA-35E2-4985-30F64164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02875-96E7-0121-EAE2-CD7E862A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643AD-558F-D334-1261-207ECF09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5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DDA1-975B-50DD-8327-37E9B7BB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35C8-BB9F-7C11-3865-9F4EC5591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F85F9-2A07-6756-987F-B747BBF9C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8D078-AC76-BD63-FB0B-8F4E74E2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DA209-9BE8-C5FA-C137-F7A78F3B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35417-8501-CDB7-A445-DAF9863E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4900-56AF-D90C-E261-B23B241C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B240F-DBF0-ECDD-7E2C-2CF911AF5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1A1BD-1ABC-0A09-C1AC-AE171000F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BD621-C832-B91B-C7CC-9500DE1CC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E24B5-7FFC-8925-3094-28A388283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47621-0AFC-532E-08A0-C7CA91EA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7C8E6-85FA-7328-F574-0FE263F7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CEA9B-24D3-F16A-F254-02C6ACE1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B267-3EDF-7775-C972-9B85F848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D7C50-D2ED-9C8B-3AC6-36078546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C1AD-967F-1FEE-9749-65145D5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4E595-6689-0D11-8BEC-A16AD3AB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B49B4-57F8-050F-BEA2-6399F226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5EB5E-D222-1696-FE55-126519C5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37941-9652-BED0-FF8F-8B0CF97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9039-BC39-3541-8E27-20DE8A92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AE0A2-FF33-2240-38BB-925AB8B86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08A12-37A0-94BD-2343-214D4505D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CA14C-1A02-4A46-A916-61DE7E2B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370D7-55AD-ABB0-9891-B26D1657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4F8E6-1499-AC0A-CD73-15DED771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BB9D-EEB2-B14E-8686-D4477081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F0236-A7BA-2909-7FC0-EDA9CA2AC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29125-D1D2-FBB2-6444-08048946E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37AB-353A-DEE1-FE65-1B6FC66D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5A0DD-A569-6072-E3B0-558F8AA7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A6454-35FC-A5F6-7B90-ABBEFF96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9E26-F332-99B1-105C-FC98ACE8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CB791-E5C5-5678-BAC2-0B3DF8287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DAE1-53B8-C4E5-9A24-12D48014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23EE-7CB1-824D-38BA-40B0D19A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AD3E4-0A1B-BAF5-D0FF-E6F0242D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5826C-C64C-2B78-41ED-15BE45368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C2047-B769-4D83-DBF7-C77CBF60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CE0E-7FE1-4CB0-F383-D424EAEE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24CA4-2C04-59AE-3272-1BBF37E0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54A16-4062-2389-436F-543B2AA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5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2E6D1-3BDB-23DD-9735-FFF2466B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3075E-C94B-6284-EEED-47AEEC3E6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D619-05C2-4444-3461-80B33CD5A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B7AA-68A5-4367-9248-FD821E8A2C2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394A3-26F1-ED56-F40D-07C6503BE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C5FE4-06A3-F770-558A-57FF09DEF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7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B8CB9-A04E-8CF0-F0A7-ADC72F49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2" descr="A képen Szimmetria, tér, képernyőkép, minta látható&#10;&#10;Lehet, hogy az AI által létrehozott tartalom helytelen.">
            <a:extLst>
              <a:ext uri="{FF2B5EF4-FFF2-40B4-BE49-F238E27FC236}">
                <a16:creationId xmlns:a16="http://schemas.microsoft.com/office/drawing/2014/main" id="{DD334B6A-5860-70E4-4E12-4519C4208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486" y="5919129"/>
            <a:ext cx="4367027" cy="709101"/>
          </a:xfrm>
          <a:prstGeom prst="rect">
            <a:avLst/>
          </a:prstGeom>
        </p:spPr>
      </p:pic>
      <p:sp>
        <p:nvSpPr>
          <p:cNvPr id="10" name="Szövegdoboz 4">
            <a:extLst>
              <a:ext uri="{FF2B5EF4-FFF2-40B4-BE49-F238E27FC236}">
                <a16:creationId xmlns:a16="http://schemas.microsoft.com/office/drawing/2014/main" id="{00D9E922-33AD-C931-33DD-CB7CC4458474}"/>
              </a:ext>
            </a:extLst>
          </p:cNvPr>
          <p:cNvSpPr txBox="1"/>
          <p:nvPr/>
        </p:nvSpPr>
        <p:spPr>
          <a:xfrm>
            <a:off x="-10583" y="6401424"/>
            <a:ext cx="61065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Futura"/>
                <a:cs typeface="Helvetica" panose="020B0604020202020204" pitchFamily="34" charset="0"/>
              </a:rPr>
              <a:t>Dusza Műhely 2025-2026</a:t>
            </a:r>
          </a:p>
        </p:txBody>
      </p:sp>
      <p:pic>
        <p:nvPicPr>
          <p:cNvPr id="11" name="Kép 7" descr="A képen embléma, szöveg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E72E37C9-E27C-5D59-075F-317D80558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1636" y="6292273"/>
            <a:ext cx="473767" cy="476003"/>
          </a:xfrm>
          <a:prstGeom prst="rect">
            <a:avLst/>
          </a:prstGeom>
        </p:spPr>
      </p:pic>
      <p:sp>
        <p:nvSpPr>
          <p:cNvPr id="13" name="Szövegdoboz 10">
            <a:extLst>
              <a:ext uri="{FF2B5EF4-FFF2-40B4-BE49-F238E27FC236}">
                <a16:creationId xmlns:a16="http://schemas.microsoft.com/office/drawing/2014/main" id="{2B419309-0061-12E1-34E3-AC06E27B86A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51045" y="2368402"/>
            <a:ext cx="9489907" cy="24552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600" b="1" dirty="0">
                <a:solidFill>
                  <a:srgbClr val="FFF3E7"/>
                </a:solidFill>
                <a:latin typeface="Colonna MT" panose="04020805060202030203" pitchFamily="82" charset="0"/>
              </a:rPr>
              <a:t>WORY</a:t>
            </a:r>
            <a:r>
              <a:rPr lang="en-US" sz="16600" b="1" dirty="0">
                <a:solidFill>
                  <a:srgbClr val="FFF3E7"/>
                </a:solidFill>
                <a:latin typeface="Colonna MT" panose="04020805060202030203" pitchFamily="82" charset="0"/>
              </a:rPr>
              <a:t>N</a:t>
            </a:r>
            <a:endParaRPr lang="hu-HU" sz="16600" b="1" dirty="0">
              <a:solidFill>
                <a:srgbClr val="FFF3E7"/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72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8F0B7-F942-B0C9-F4E5-EB9CD652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A18633-9797-2222-1E96-DEC82956568D}"/>
              </a:ext>
            </a:extLst>
          </p:cNvPr>
          <p:cNvGrpSpPr/>
          <p:nvPr/>
        </p:nvGrpSpPr>
        <p:grpSpPr>
          <a:xfrm>
            <a:off x="6816442" y="1842654"/>
            <a:ext cx="4752954" cy="5167746"/>
            <a:chOff x="470204" y="1690254"/>
            <a:chExt cx="4752954" cy="4395318"/>
          </a:xfrm>
          <a:gradFill>
            <a:gsLst>
              <a:gs pos="80000">
                <a:srgbClr val="0B2E10"/>
              </a:gs>
              <a:gs pos="0">
                <a:srgbClr val="000000">
                  <a:alpha val="0"/>
                </a:srgbClr>
              </a:gs>
              <a:gs pos="100000">
                <a:schemeClr val="accent3">
                  <a:lumMod val="50000"/>
                </a:schemeClr>
              </a:gs>
            </a:gsLst>
            <a:lin ang="5400000" scaled="1"/>
          </a:gradFill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1C862CC9-A91A-927F-BDCC-C59D2AFFF120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endParaRPr lang="hu-HU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 háttér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Többjátékos mód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</a:t>
              </a:r>
            </a:p>
            <a:p>
              <a:pPr>
                <a:lnSpc>
                  <a:spcPct val="120000"/>
                </a:lnSpc>
              </a:pPr>
              <a:endParaRPr lang="hu-HU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0C62124F-14F6-89EC-3819-9339E191EF28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0254"/>
              <a:ext cx="4752954" cy="655781"/>
            </a:xfrm>
            <a:prstGeom prst="rect">
              <a:avLst/>
            </a:prstGeom>
            <a:grpFill/>
            <a:effectLst>
              <a:softEdge rad="31750"/>
            </a:effectLst>
          </p:spPr>
          <p:txBody>
            <a:bodyPr anchor="ctr" anchorCtr="1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b="1" dirty="0">
                  <a:solidFill>
                    <a:schemeClr val="bg1"/>
                  </a:solidFill>
                  <a:latin typeface="Felix Titling" panose="04060505060202020A04" pitchFamily="82" charset="0"/>
                </a:rPr>
                <a:t>Elkészült</a:t>
              </a:r>
              <a:endParaRPr lang="en-US" sz="3600" b="1" dirty="0">
                <a:solidFill>
                  <a:schemeClr val="bg1"/>
                </a:solidFill>
                <a:latin typeface="Felix Titling" panose="04060505060202020A04" pitchFamily="82" charset="0"/>
              </a:endParaRPr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21255DF-16C2-9156-D4FE-50A1FE16EDC9}"/>
              </a:ext>
            </a:extLst>
          </p:cNvPr>
          <p:cNvSpPr txBox="1">
            <a:spLocks/>
          </p:cNvSpPr>
          <p:nvPr/>
        </p:nvSpPr>
        <p:spPr>
          <a:xfrm>
            <a:off x="7135946" y="2461846"/>
            <a:ext cx="4752954" cy="3623726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u-HU" sz="2400" b="1" dirty="0">
                <a:solidFill>
                  <a:srgbClr val="FFC671"/>
                </a:solidFill>
                <a:latin typeface="Helvetica"/>
                <a:cs typeface="Helvetica"/>
              </a:rPr>
              <a:t>b</a:t>
            </a:r>
            <a:endParaRPr lang="hu-HU" sz="2400" b="1" dirty="0">
              <a:solidFill>
                <a:srgbClr val="FFC67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hu-HU" sz="2400" b="1" dirty="0">
              <a:solidFill>
                <a:srgbClr val="FFC67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Szövegdoboz 15">
            <a:extLst>
              <a:ext uri="{FF2B5EF4-FFF2-40B4-BE49-F238E27FC236}">
                <a16:creationId xmlns:a16="http://schemas.microsoft.com/office/drawing/2014/main" id="{D6060F24-7CB9-D775-F5FC-1135DA9A7EB3}"/>
              </a:ext>
            </a:extLst>
          </p:cNvPr>
          <p:cNvSpPr txBox="1"/>
          <p:nvPr/>
        </p:nvSpPr>
        <p:spPr>
          <a:xfrm>
            <a:off x="237678" y="169420"/>
            <a:ext cx="1175112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latin typeface="Colonna MT" panose="04020805060202030203" pitchFamily="82" charset="0"/>
              </a:rPr>
              <a:t>Terveink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224488D-8B95-85A4-64BE-E17A758CFEBA}"/>
              </a:ext>
            </a:extLst>
          </p:cNvPr>
          <p:cNvGrpSpPr/>
          <p:nvPr/>
        </p:nvGrpSpPr>
        <p:grpSpPr>
          <a:xfrm>
            <a:off x="622604" y="1842654"/>
            <a:ext cx="4752954" cy="5167746"/>
            <a:chOff x="470204" y="1690254"/>
            <a:chExt cx="4752954" cy="4395318"/>
          </a:xfrm>
          <a:gradFill flip="none" rotWithShape="1">
            <a:gsLst>
              <a:gs pos="0">
                <a:srgbClr val="000000">
                  <a:alpha val="0"/>
                </a:srgbClr>
              </a:gs>
              <a:gs pos="79000">
                <a:srgbClr val="451806"/>
              </a:gs>
              <a:gs pos="100000">
                <a:srgbClr val="4D1B07"/>
              </a:gs>
            </a:gsLst>
            <a:lin ang="5400000" scaled="1"/>
            <a:tileRect/>
          </a:gradFill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5D0A7D39-6C5B-E76E-5B43-41138532BCD3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hu-HU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UI fejlesztések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 háttér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Többjátékos mód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3B7349E7-0222-6478-1542-6BE20C4D87BB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0254"/>
              <a:ext cx="4752954" cy="655781"/>
            </a:xfrm>
            <a:prstGeom prst="rect">
              <a:avLst/>
            </a:prstGeom>
            <a:grpFill/>
            <a:effectLst>
              <a:softEdge rad="31750"/>
            </a:effectLst>
          </p:spPr>
          <p:txBody>
            <a:bodyPr anchor="ctr" anchorCtr="1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b="1" dirty="0">
                  <a:solidFill>
                    <a:schemeClr val="bg1"/>
                  </a:solidFill>
                  <a:latin typeface="Felix Titling" panose="04060505060202020A04" pitchFamily="82" charset="0"/>
                </a:rPr>
                <a:t>Tervben volt</a:t>
              </a:r>
              <a:endParaRPr lang="en-US" sz="3600" b="1" dirty="0">
                <a:solidFill>
                  <a:schemeClr val="bg1"/>
                </a:solidFill>
                <a:latin typeface="Felix Titling" panose="04060505060202020A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2314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17795-679D-0360-28BE-24005A18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zövegdoboz 15">
            <a:extLst>
              <a:ext uri="{FF2B5EF4-FFF2-40B4-BE49-F238E27FC236}">
                <a16:creationId xmlns:a16="http://schemas.microsoft.com/office/drawing/2014/main" id="{C261BFBC-51E3-4D57-438C-DE6C8DBF228C}"/>
              </a:ext>
            </a:extLst>
          </p:cNvPr>
          <p:cNvSpPr txBox="1"/>
          <p:nvPr/>
        </p:nvSpPr>
        <p:spPr>
          <a:xfrm>
            <a:off x="237678" y="169420"/>
            <a:ext cx="1175112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8000" b="1" dirty="0">
                <a:solidFill>
                  <a:schemeClr val="bg1"/>
                </a:solidFill>
                <a:latin typeface="Colonna MT" panose="04020805060202030203" pitchFamily="82" charset="0"/>
              </a:rPr>
              <a:t>Terveink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F03160-EDA2-23AA-9CB2-BA92EF052DDA}"/>
              </a:ext>
            </a:extLst>
          </p:cNvPr>
          <p:cNvGrpSpPr/>
          <p:nvPr/>
        </p:nvGrpSpPr>
        <p:grpSpPr>
          <a:xfrm>
            <a:off x="622603" y="1842654"/>
            <a:ext cx="10876669" cy="5167746"/>
            <a:chOff x="470204" y="1690254"/>
            <a:chExt cx="4752954" cy="4395318"/>
          </a:xfrm>
          <a:gradFill flip="none" rotWithShape="1">
            <a:gsLst>
              <a:gs pos="75000">
                <a:srgbClr val="092836"/>
              </a:gs>
              <a:gs pos="0">
                <a:srgbClr val="000000">
                  <a:alpha val="0"/>
                </a:srgb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4ABDA5FC-73DE-45FD-7900-50978F3F863E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endParaRPr lang="hu-HU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hu-HU" sz="36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Játék részeinek egységesítése</a:t>
              </a:r>
            </a:p>
            <a:p>
              <a:pPr algn="ctr">
                <a:lnSpc>
                  <a:spcPct val="120000"/>
                </a:lnSpc>
              </a:pPr>
              <a:r>
                <a:rPr lang="hu-HU" sz="36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Egyjátékos mód megtervezése</a:t>
              </a:r>
            </a:p>
            <a:p>
              <a:pPr algn="ctr">
                <a:lnSpc>
                  <a:spcPct val="120000"/>
                </a:lnSpc>
              </a:pPr>
              <a:r>
                <a:rPr lang="hu-HU" sz="36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Hangok és hangrendszer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4B7E5D57-407A-BEFA-1D69-15D0D5EF4C19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0254"/>
              <a:ext cx="4752954" cy="655781"/>
            </a:xfrm>
            <a:prstGeom prst="rect">
              <a:avLst/>
            </a:prstGeom>
            <a:grpFill/>
            <a:effectLst>
              <a:softEdge rad="31750"/>
            </a:effectLst>
          </p:spPr>
          <p:txBody>
            <a:bodyPr anchor="ctr" anchorCtr="1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b="1" dirty="0">
                  <a:solidFill>
                    <a:schemeClr val="bg1"/>
                  </a:solidFill>
                  <a:latin typeface="Felix Titling" panose="04060505060202020A04" pitchFamily="82" charset="0"/>
                </a:rPr>
                <a:t>A következő workshopra</a:t>
              </a:r>
              <a:endParaRPr lang="en-US" sz="3600" b="1" dirty="0">
                <a:solidFill>
                  <a:schemeClr val="bg1"/>
                </a:solidFill>
                <a:latin typeface="Felix Titling" panose="04060505060202020A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58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3451F-C881-B8D5-0D67-8CC152E7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1505AA6F-94B9-E0CE-BCE3-3A4AE806FBAB}"/>
              </a:ext>
            </a:extLst>
          </p:cNvPr>
          <p:cNvSpPr txBox="1"/>
          <p:nvPr/>
        </p:nvSpPr>
        <p:spPr>
          <a:xfrm>
            <a:off x="237678" y="169420"/>
            <a:ext cx="118019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6600" b="1" dirty="0" err="1">
                <a:solidFill>
                  <a:schemeClr val="bg1"/>
                </a:solidFill>
                <a:latin typeface="Colonna MT" panose="04020805060202030203" pitchFamily="82" charset="0"/>
              </a:rPr>
              <a:t>Trello</a:t>
            </a:r>
            <a:endParaRPr lang="hu-HU" sz="6600" b="1" dirty="0">
              <a:solidFill>
                <a:schemeClr val="bg1"/>
              </a:solidFill>
              <a:latin typeface="Colonna MT" panose="04020805060202030203" pitchFamily="82" charset="0"/>
            </a:endParaRPr>
          </a:p>
        </p:txBody>
      </p:sp>
      <p:pic>
        <p:nvPicPr>
          <p:cNvPr id="3" name="Kép 2" descr="A képen szöveg, képernyőkép, Multimédiás szoftver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9DB6406-7F89-DC63-71D9-F4EE92D82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9" y="2070738"/>
            <a:ext cx="11877040" cy="417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11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A5EFD-E674-4074-519A-A88171DA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D11CA879-B00F-4C7C-3C8C-EC82187A2D3D}"/>
              </a:ext>
            </a:extLst>
          </p:cNvPr>
          <p:cNvSpPr txBox="1"/>
          <p:nvPr/>
        </p:nvSpPr>
        <p:spPr>
          <a:xfrm>
            <a:off x="237678" y="169420"/>
            <a:ext cx="118019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 dirty="0" err="1">
                <a:solidFill>
                  <a:schemeClr val="bg1"/>
                </a:solidFill>
                <a:latin typeface="Colonna MT" panose="04020805060202030203" pitchFamily="82" charset="0"/>
              </a:rPr>
              <a:t>Github</a:t>
            </a:r>
            <a:endParaRPr lang="hu-HU" sz="6600" b="1" dirty="0">
              <a:solidFill>
                <a:schemeClr val="bg1"/>
              </a:solidFill>
              <a:latin typeface="Colonna MT" panose="04020805060202030203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4CEF0-CA7E-171D-847B-60DC4A57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002537"/>
            <a:ext cx="7693741" cy="2604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3FDB6-F288-DFB3-6812-ED12EA52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180" y="3728237"/>
            <a:ext cx="8863212" cy="286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81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A22D6-B84B-B1ED-637F-87B7BC77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D0EF3BD0-8C0A-065B-9B85-5919BC128ED2}"/>
              </a:ext>
            </a:extLst>
          </p:cNvPr>
          <p:cNvSpPr txBox="1"/>
          <p:nvPr/>
        </p:nvSpPr>
        <p:spPr>
          <a:xfrm>
            <a:off x="1487523" y="1851645"/>
            <a:ext cx="9216953" cy="31547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9900" b="1" dirty="0">
                <a:solidFill>
                  <a:schemeClr val="bg1"/>
                </a:solidFill>
                <a:latin typeface="Colonna MT" panose="04020805060202030203" pitchFamily="82" charset="0"/>
              </a:rPr>
              <a:t>GODOT</a:t>
            </a:r>
          </a:p>
        </p:txBody>
      </p:sp>
    </p:spTree>
    <p:extLst>
      <p:ext uri="{BB962C8B-B14F-4D97-AF65-F5344CB8AC3E}">
        <p14:creationId xmlns:p14="http://schemas.microsoft.com/office/powerpoint/2010/main" val="2184286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38</Words>
  <Application>Microsoft Office PowerPoint</Application>
  <PresentationFormat>Szélesvásznú</PresentationFormat>
  <Paragraphs>24</Paragraphs>
  <Slides>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Office Theme</vt:lpstr>
      <vt:lpstr>WORYN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Sandor Toth</dc:creator>
  <cp:lastModifiedBy>Mónika Berettyán</cp:lastModifiedBy>
  <cp:revision>44</cp:revision>
  <dcterms:created xsi:type="dcterms:W3CDTF">2025-12-05T18:24:15Z</dcterms:created>
  <dcterms:modified xsi:type="dcterms:W3CDTF">2026-01-17T06:53:42Z</dcterms:modified>
</cp:coreProperties>
</file>